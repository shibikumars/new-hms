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059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1D0C-8646-9700-E316-BE32A1D6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9D404-64B4-71B8-5D9F-D9D926710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66CDD-8977-9227-2251-65B12606C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1A5F2-27EC-9DB6-EEA8-116ED31DC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4A4A8">
              <a:alpha val="30000"/>
            </a:srgbClr>
          </a:solidFill>
          <a:ln w="12700">
            <a:solidFill>
              <a:srgbClr val="14A4A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943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Management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14A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Healthcare Platform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3200400" cy="36576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|  Angular  |  MySQL  |  Docker  |  JWT</a:t>
            </a:r>
            <a:endParaRPr lang="en-US" sz="13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6EC2B22-FCAB-C36D-6979-482900662FD7}"/>
              </a:ext>
            </a:extLst>
          </p:cNvPr>
          <p:cNvSpPr/>
          <p:nvPr/>
        </p:nvSpPr>
        <p:spPr>
          <a:xfrm>
            <a:off x="4630057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rely on siloed, paper-based or monolithic systems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coordination across OPD, Lab, Pharmacy &amp; Billing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failures during high patient load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cause errors in appointments, billing &amp; prescriptions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inter-department communication delays patient care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73168" y="804672"/>
            <a:ext cx="4114800" cy="3474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1207008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modular, scalable HMS using microservices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 records, appointments, lab &amp; billing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JWT-based role access — Admin, Doctor, Patient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notifications &amp; queue management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full system with Docker for easy deployment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80560" y="822960"/>
            <a:ext cx="0" cy="3657600"/>
          </a:xfrm>
          <a:prstGeom prst="line">
            <a:avLst/>
          </a:prstGeom>
          <a:noFill/>
          <a:ln w="12700">
            <a:solidFill>
              <a:srgbClr val="CBD5D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9611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18872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Cloud, Spring Security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41448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0467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89611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51176" y="118872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17, TypeScript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Interceptors, WebSocket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90288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80467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89611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0016" y="118872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schema per service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39128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39128" y="80467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89611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48856" y="118872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" y="245059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45059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54203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&amp; DevOps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283464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(Rate Limiting &amp; Cache)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41448" y="245059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41448" y="245059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254203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51176" y="283464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Eureka (Discovery)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 (Inter-service calls)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90288" y="245059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245059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54203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AOP &amp; Testing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0016" y="283464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Auditing, Performance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Swagger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39128" y="245059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39128" y="245059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2542032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48856" y="2834640"/>
            <a:ext cx="183794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Filter, Rate Limiter, CORS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 — service registration &amp; health (Port 8761)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804672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804672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45536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point, JWT filter, rate limiting (Port 8080)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79008" y="804672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79008" y="804672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07024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JWT token issuing &amp; refresh (Port 8082)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1527048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527048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5819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18379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creation and management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1527048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17520" y="1527048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15819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45536" y="18379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profiles, schedules &amp; specializations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79008" y="1527048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79008" y="1527048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07024" y="15819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07024" y="18379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Slot-based booking, conflict detection (Port 8084)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2249424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249424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304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" y="25603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requests, result uploads &amp; notifications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17520" y="2249424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17520" y="2249424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2304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Records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45536" y="25603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&amp; patient history — role-restricted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79008" y="2249424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79008" y="2249424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07024" y="23042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 Service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07024" y="25603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linked to doctors, medication tracking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2971800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2971800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0266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Service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4048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invoice generation &amp; payment status tracking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017520" y="2971800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017520" y="2971800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5536" y="30266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145536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WebSocket real-time alerts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79008" y="2971800"/>
            <a:ext cx="267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779008" y="2971800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07024" y="30266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/ Reporting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907024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real-time queue management &amp; analytics reports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Diagram</a:t>
            </a:r>
            <a:endParaRPr lang="en-US" sz="2200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E972257-E2E7-1F68-D21B-6A3781926E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C4FE827-1327-F415-35D1-C69DC10A8A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2571749"/>
            <a:ext cx="2315029" cy="231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0779D-31EC-013A-08A4-5E4FDCB63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16643"/>
            <a:ext cx="8979408" cy="4426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44074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verify accounts, view reports &amp;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44074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🩺 Doctor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schedule, update records, write prescriptions, view lab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44074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7064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Patient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book appointments, view bills and lab reports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04DB69-2043-D26E-8E03-FF7EF973A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6" y="704088"/>
            <a:ext cx="712651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solidFill>
            <a:srgbClr val="D4F5F5"/>
          </a:solidFill>
          <a:ln w="25400">
            <a:solidFill>
              <a:srgbClr val="0D737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Insert Your Sequence Diagram 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4407408"/>
            <a:ext cx="1298448" cy="603504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4645152"/>
            <a:ext cx="118872" cy="1188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4407408"/>
            <a:ext cx="1298448" cy="603504"/>
          </a:xfrm>
          <a:prstGeom prst="rect">
            <a:avLst/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JWT Token Issued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35808" y="4645152"/>
            <a:ext cx="118872" cy="1188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4407408"/>
            <a:ext cx="1298448" cy="603504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Book Appointment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53128" y="4645152"/>
            <a:ext cx="118872" cy="1188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4407408"/>
            <a:ext cx="1298448" cy="603504"/>
          </a:xfrm>
          <a:prstGeom prst="rect">
            <a:avLst/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Lab Test Ordered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4645152"/>
            <a:ext cx="118872" cy="1188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4407408"/>
            <a:ext cx="1298448" cy="603504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 Uploaded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87768" y="4645152"/>
            <a:ext cx="118872" cy="118872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407408"/>
            <a:ext cx="1298448" cy="603504"/>
          </a:xfrm>
          <a:prstGeom prst="rect">
            <a:avLst/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4407408"/>
            <a:ext cx="129844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Bill Generated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81B5289-3063-564C-4405-5B929C31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4" y="741535"/>
            <a:ext cx="8438606" cy="3656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Entity-Relationship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solidFill>
            <a:srgbClr val="D4F5F5"/>
          </a:solidFill>
          <a:ln w="25400">
            <a:solidFill>
              <a:srgbClr val="0D737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Insert Your Entity / ER Diagram 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4407408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4074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0824" y="4407408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44074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1608" y="4407408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44074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22392" y="4407408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44074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Appointment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23176" y="4407408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44074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TimeSlot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73659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736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LabResult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20824" y="473659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4736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MedRecord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21608" y="473659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4736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Prescription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22392" y="473659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A26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4736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Invoice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pattern — cross-service data accessed via REST, not foreign keys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8113E25-A427-E95C-F175-1910739CC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564261"/>
            <a:ext cx="8979408" cy="457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 &amp;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Gateway &amp; Rate Limiting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validates Bearer token on all protected routes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via Redis — 5 req/sec per IP on /auth/login (burst: 10)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whitelisted Angular origin (localhost:4200)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routes: /auth/login, /auth/register, /auth/verify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— access + refresh token flow supported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73168" y="804672"/>
            <a:ext cx="4114800" cy="347472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Access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8032" y="126187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261872"/>
            <a:ext cx="100584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61872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353312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— manage users, verify accounts, all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28032" y="219456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2194560"/>
            <a:ext cx="1005840" cy="804672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19456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2286000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appointments, lab results, prescriptions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28032" y="3127248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3127248"/>
            <a:ext cx="1005840" cy="804672"/>
          </a:xfrm>
          <a:prstGeom prst="rect">
            <a:avLst/>
          </a:prstGeom>
          <a:solidFill>
            <a:srgbClr val="0D5E8A"/>
          </a:solidFill>
          <a:ln w="12700">
            <a:solidFill>
              <a:srgbClr val="0D5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12724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3218688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profile, book appointments, view bills &amp; lab reports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0" y="822960"/>
            <a:ext cx="0" cy="3657600"/>
          </a:xfrm>
          <a:prstGeom prst="line">
            <a:avLst/>
          </a:prstGeom>
          <a:noFill/>
          <a:ln w="12700">
            <a:solidFill>
              <a:srgbClr val="CBD5D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Module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68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Slot-based booking, conflict detection, auto-billing on completion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804672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804672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868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requests linked to appointments, result upload, auto-notification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517904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17904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581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history per patient, role-restricted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517904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517904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581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Doctor-linked prescriptions, medication inventory tracking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231136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231136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295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invoice post-appointment, payment status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2231136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231136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295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OPD position tracking via WebSocket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2944368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44368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WebSocket alerts for appointments, labs &amp; payments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2944368"/>
            <a:ext cx="40416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2944368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1772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— usage stats, billing reports, occupancy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Frontend, Testing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69748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Frontend — Angular 17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80160"/>
            <a:ext cx="249631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for Admin, Doctor &amp; Patient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auto-attached via HTTP Interceptors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&amp; notification via WebSocket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backend through API Gateway (port 8080)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804672"/>
            <a:ext cx="2697480" cy="36576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804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28416" y="1280160"/>
            <a:ext cx="249631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unit tests across all services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/>
              <a:t>Frontend: 359 tests passing — 89% statement coverage, 85% function coverage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IN" sz="1200" dirty="0"/>
              <a:t>Angular tested via Jasmine/Karma with </a:t>
            </a:r>
            <a:r>
              <a:rPr lang="en-IN" sz="1200" dirty="0" err="1"/>
              <a:t>HttpClientTestingModule</a:t>
            </a:r>
            <a:r>
              <a:rPr lang="en-IN" sz="1200" dirty="0"/>
              <a:t> &amp; </a:t>
            </a:r>
            <a:r>
              <a:rPr lang="en-IN" sz="1200" dirty="0" err="1"/>
              <a:t>RouterTestingModule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controllers, services, AOP, exceptions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 with MockMvc integration tests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— auto-generated API docs per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804672"/>
            <a:ext cx="2697480" cy="365760"/>
          </a:xfrm>
          <a:prstGeom prst="rect">
            <a:avLst/>
          </a:prstGeom>
          <a:solidFill>
            <a:srgbClr val="0D5E8A"/>
          </a:solidFill>
          <a:ln w="12700">
            <a:solidFill>
              <a:srgbClr val="0D5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804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Deployment — Docker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117043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91072" y="1280160"/>
            <a:ext cx="249631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single command for full system startup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for MySQL, Redis &amp; Eureka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externalized via .env (JWT secret, DB credentials)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built as independent Docker container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389120"/>
            <a:ext cx="1371600" cy="1371600"/>
          </a:xfrm>
          <a:prstGeom prst="ellipse">
            <a:avLst/>
          </a:prstGeom>
          <a:solidFill>
            <a:srgbClr val="14A4A8">
              <a:alpha val="25000"/>
            </a:srgbClr>
          </a:solidFill>
          <a:ln w="12700">
            <a:solidFill>
              <a:srgbClr val="14A4A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3200400" cy="36576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HMS with 13 independently deployable microservices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+ RBAC enforced across all modules and endpoints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patient flow — registration to billing — fully operational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microservices separation with isolated databases per service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261872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 via the same API Gateway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doctor recommendation &amp; smart scheduling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for production-grade auto-scaling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insurance providers &amp; third-party labs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/ video consultation feature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A1A59-D1C8-CF5E-6C1D-D157DDD5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ACC25D-C375-89B7-F577-FAB8464BECC7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E8D348-1CDF-67EE-724E-380EF890F380}"/>
              </a:ext>
            </a:extLst>
          </p:cNvPr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3B673D-B539-E8E5-737C-86F5247FF4BA}"/>
              </a:ext>
            </a:extLst>
          </p:cNvPr>
          <p:cNvSpPr/>
          <p:nvPr/>
        </p:nvSpPr>
        <p:spPr>
          <a:xfrm>
            <a:off x="8321040" y="4389120"/>
            <a:ext cx="1371600" cy="1371600"/>
          </a:xfrm>
          <a:prstGeom prst="ellipse">
            <a:avLst/>
          </a:prstGeom>
          <a:solidFill>
            <a:srgbClr val="14A4A8">
              <a:alpha val="25000"/>
            </a:srgbClr>
          </a:solidFill>
          <a:ln w="12700">
            <a:solidFill>
              <a:srgbClr val="14A4A8">
                <a:alpha val="25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6784D-350C-B973-ACFD-3C83B4846D96}"/>
              </a:ext>
            </a:extLst>
          </p:cNvPr>
          <p:cNvSpPr/>
          <p:nvPr/>
        </p:nvSpPr>
        <p:spPr>
          <a:xfrm>
            <a:off x="3457302" y="1674404"/>
            <a:ext cx="24188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6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A4F536-F324-98C5-6168-216A6A89B2AD}"/>
              </a:ext>
            </a:extLst>
          </p:cNvPr>
          <p:cNvSpPr/>
          <p:nvPr/>
        </p:nvSpPr>
        <p:spPr>
          <a:xfrm>
            <a:off x="3066523" y="2363654"/>
            <a:ext cx="3200400" cy="36576"/>
          </a:xfrm>
          <a:prstGeom prst="rect">
            <a:avLst/>
          </a:prstGeom>
          <a:solidFill>
            <a:srgbClr val="F4A927"/>
          </a:solidFill>
          <a:ln w="12700">
            <a:solidFill>
              <a:srgbClr val="F4A92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A71C6C-6AF3-2BD1-4B96-EBBFD7228F74}"/>
              </a:ext>
            </a:extLst>
          </p:cNvPr>
          <p:cNvSpPr/>
          <p:nvPr/>
        </p:nvSpPr>
        <p:spPr>
          <a:xfrm>
            <a:off x="36576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4A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71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845</Words>
  <Application>Microsoft Office PowerPoint</Application>
  <PresentationFormat>On-screen Show (16:9)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PptxGenJS</dc:creator>
  <cp:lastModifiedBy>ARVIND KUMAR S</cp:lastModifiedBy>
  <cp:revision>4</cp:revision>
  <dcterms:created xsi:type="dcterms:W3CDTF">2026-04-26T18:01:03Z</dcterms:created>
  <dcterms:modified xsi:type="dcterms:W3CDTF">2026-04-26T19:11:06Z</dcterms:modified>
</cp:coreProperties>
</file>